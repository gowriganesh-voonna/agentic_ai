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1059" r:id="rId3"/>
    <p:sldId id="284" r:id="rId4"/>
    <p:sldId id="289" r:id="rId5"/>
    <p:sldId id="286" r:id="rId6"/>
    <p:sldId id="1064" r:id="rId7"/>
    <p:sldId id="287" r:id="rId8"/>
    <p:sldId id="1056" r:id="rId9"/>
    <p:sldId id="1053" r:id="rId10"/>
    <p:sldId id="1054" r:id="rId11"/>
    <p:sldId id="285" r:id="rId12"/>
    <p:sldId id="1063" r:id="rId13"/>
    <p:sldId id="1060" r:id="rId14"/>
    <p:sldId id="1061" r:id="rId15"/>
    <p:sldId id="1062" r:id="rId16"/>
    <p:sldId id="29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9" autoAdjust="0"/>
    <p:restoredTop sz="94660"/>
  </p:normalViewPr>
  <p:slideViewPr>
    <p:cSldViewPr snapToGrid="0">
      <p:cViewPr varScale="1">
        <p:scale>
          <a:sx n="64" d="100"/>
          <a:sy n="64" d="100"/>
        </p:scale>
        <p:origin x="59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4BB31-0115-4F58-86CE-9B38A48E2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CD34F7-6967-49C1-9DFA-8A2D15623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E42B0-6486-44CE-88D4-E501016A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F5B86-A44D-4A46-B9F5-16D6150E4D6A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89C2E-A3A5-456D-94D3-D9397B699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39AC7-325C-4D76-870A-0D864DC7F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844E-7285-4752-8152-88F815BF1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328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62376-8941-4811-89A2-9209EFD06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8F1E5-8E01-4204-8996-2FC6BB62A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1D4B8-AFFC-48EE-892B-FC489831C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F5B86-A44D-4A46-B9F5-16D6150E4D6A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2E52E-1DEE-48E0-BBFD-B2AFC0CA0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FDD30-7129-448A-BDF6-3B821A03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844E-7285-4752-8152-88F815BF1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572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477F5-6729-4ECF-BCD9-FB295A433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C1C666-8748-44D1-AEB5-D940C5947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5C031-C1DA-4200-8C3E-321BF0C4B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F5B86-A44D-4A46-B9F5-16D6150E4D6A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C3955-DF84-4204-98EC-C5196FC4F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E9FAF-EB47-46E6-861E-E935EF1BC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844E-7285-4752-8152-88F815BF1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434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3FD51-7F7E-4A0F-9938-9B4A8C585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33211-1A58-44C8-A604-1E62D803DE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68F2E9-C6CC-4A2A-93DD-D190D5A58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A0A18-BD34-48E5-B421-681388317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F5B86-A44D-4A46-B9F5-16D6150E4D6A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0FD720-0859-4DDE-A349-C85CE774E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D7862-3500-4623-90CB-99AC41999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844E-7285-4752-8152-88F815BF1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07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6AE19-38EB-4B93-9FD0-6584AFC3F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B71BF-0E32-45CC-B43A-37B804147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4F2D75-702B-4E78-8155-EE9707ED03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AFCA24-1680-4E74-9BE0-D5D8E86662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88D38E-648A-4294-BA90-BCB019FFD2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208044-77AC-4A20-AE64-236483A50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F5B86-A44D-4A46-B9F5-16D6150E4D6A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FE7DA1-F80C-4819-8287-1B435D644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39F0A-6952-405B-93FE-DAAEC8BB1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844E-7285-4752-8152-88F815BF1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78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D9809-54D8-4347-98EE-3A3C949D1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D2B4D8-1855-4442-A55A-AA2E02A32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F5B86-A44D-4A46-B9F5-16D6150E4D6A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278DF2-596F-4D90-8D22-B8C08F9ED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6E190D-5245-43F2-BD98-AD0012993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844E-7285-4752-8152-88F815BF1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793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AA4E5E-5380-494B-937D-3BFEBC72F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F5B86-A44D-4A46-B9F5-16D6150E4D6A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59CF33-DC07-4E05-A732-DAC763B78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7B31D-95FF-40FC-A496-1E1F44469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844E-7285-4752-8152-88F815BF1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691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3C939-BBCE-4816-95DA-3FC58D4BB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69924-C477-451C-BF5A-7A8F51B4A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4E14E-3FD6-4A12-8171-A4E97328B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FBBEB-636B-4C2B-82BF-92C08307C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F5B86-A44D-4A46-B9F5-16D6150E4D6A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3BAD3-1507-4574-BDF5-3B5679B42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EDEC-9F8A-4887-8EA0-A4905B343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844E-7285-4752-8152-88F815BF1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22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08637-5294-48EB-A8C5-DCAADBA7E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4E93C2-ADA2-4830-AC77-1EBA98B119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515CAB-382A-4795-9A9F-DAB09D838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EA2E4-1824-426E-BFE1-018AEED9B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F5B86-A44D-4A46-B9F5-16D6150E4D6A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F51CFA-048D-4443-9047-0587E847D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E17AB-FA9B-457C-BDA5-5E8BF9291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844E-7285-4752-8152-88F815BF1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331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4E0A3-28D6-414E-98A4-82F3B84CE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182EB5-0A84-4B5A-9ED5-95E9590B1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3E075-EE8C-4F39-AD4A-338A004F1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F5B86-A44D-4A46-B9F5-16D6150E4D6A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7F200-9647-448A-BB0F-6A26C2247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AFFFE-8BDD-476B-AA20-64C8A7376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844E-7285-4752-8152-88F815BF1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03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C52DBC-2EA1-45F8-8D51-33318A5EC3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A687A1-013B-4EF0-B2CE-0926FD4BB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814F4-0D8E-40CC-9C78-6076FEBB5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F5B86-A44D-4A46-B9F5-16D6150E4D6A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4F448-D96B-437C-83A3-ECE1ACADA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46BB2-ABCC-4B21-B692-6363C23A9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844E-7285-4752-8152-88F815BF1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973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3B09A5-F8A9-4DD3-8A5C-434A07FE5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90692-4721-441F-AA3B-73D1C4293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228DD-BED0-4286-9169-EA69E29FB9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BF5B86-A44D-4A46-B9F5-16D6150E4D6A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16D6D-DDB3-4C6C-8217-60C3E32EF9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B65A1-08DA-4157-9D60-0D585F4C0A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D844E-7285-4752-8152-88F815BF1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71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53CE876F-9700-D791-0730-DF3E3C5ED50E}"/>
              </a:ext>
            </a:extLst>
          </p:cNvPr>
          <p:cNvSpPr/>
          <p:nvPr/>
        </p:nvSpPr>
        <p:spPr>
          <a:xfrm flipH="1">
            <a:off x="5047057" y="0"/>
            <a:ext cx="6789108" cy="6858000"/>
          </a:xfrm>
          <a:prstGeom prst="homePlate">
            <a:avLst>
              <a:gd name="adj" fmla="val 3351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 descr="A picture containing sky, vehicle, wheel, land vehicle&#10;&#10;Description automatically generated">
            <a:extLst>
              <a:ext uri="{FF2B5EF4-FFF2-40B4-BE49-F238E27FC236}">
                <a16:creationId xmlns:a16="http://schemas.microsoft.com/office/drawing/2014/main" id="{A44DCC70-47C3-C8B0-8F5A-2EFD342B521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02893" y="0"/>
            <a:ext cx="6789108" cy="6857999"/>
          </a:xfrm>
          <a:custGeom>
            <a:avLst/>
            <a:gdLst>
              <a:gd name="connsiteX0" fmla="*/ 2275641 w 6789108"/>
              <a:gd name="connsiteY0" fmla="*/ 0 h 6857999"/>
              <a:gd name="connsiteX1" fmla="*/ 6789108 w 6789108"/>
              <a:gd name="connsiteY1" fmla="*/ 0 h 6857999"/>
              <a:gd name="connsiteX2" fmla="*/ 6789108 w 6789108"/>
              <a:gd name="connsiteY2" fmla="*/ 6857999 h 6857999"/>
              <a:gd name="connsiteX3" fmla="*/ 2275641 w 6789108"/>
              <a:gd name="connsiteY3" fmla="*/ 6857999 h 6857999"/>
              <a:gd name="connsiteX4" fmla="*/ 0 w 6789108"/>
              <a:gd name="connsiteY4" fmla="*/ 34290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9108" h="6857999">
                <a:moveTo>
                  <a:pt x="2275641" y="0"/>
                </a:moveTo>
                <a:lnTo>
                  <a:pt x="6789108" y="0"/>
                </a:lnTo>
                <a:lnTo>
                  <a:pt x="6789108" y="6857999"/>
                </a:lnTo>
                <a:lnTo>
                  <a:pt x="2275641" y="6857999"/>
                </a:lnTo>
                <a:lnTo>
                  <a:pt x="0" y="3429000"/>
                </a:lnTo>
                <a:close/>
              </a:path>
            </a:pathLst>
          </a:cu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4C26A952-9E8F-B1D3-5B64-8DC9E9A2D1F3}"/>
              </a:ext>
            </a:extLst>
          </p:cNvPr>
          <p:cNvGrpSpPr/>
          <p:nvPr/>
        </p:nvGrpSpPr>
        <p:grpSpPr>
          <a:xfrm>
            <a:off x="532939" y="2007703"/>
            <a:ext cx="4919601" cy="2588327"/>
            <a:chOff x="332299" y="1877106"/>
            <a:chExt cx="4919601" cy="258832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0C6FCAD-5CDA-0320-07DD-972ECB9BFBCC}"/>
                </a:ext>
              </a:extLst>
            </p:cNvPr>
            <p:cNvSpPr txBox="1"/>
            <p:nvPr/>
          </p:nvSpPr>
          <p:spPr>
            <a:xfrm>
              <a:off x="332299" y="1877106"/>
              <a:ext cx="4919601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200" b="1" dirty="0">
                  <a:solidFill>
                    <a:schemeClr val="accent5"/>
                  </a:solidFill>
                  <a:latin typeface="Lora" pitchFamily="2" charset="0"/>
                </a:rPr>
                <a:t>Smart Inventory &amp; Dispatch Manger</a:t>
              </a:r>
              <a:endParaRPr lang="en-IN" sz="4200" b="1" dirty="0">
                <a:solidFill>
                  <a:schemeClr val="accent5"/>
                </a:solidFill>
                <a:latin typeface="Lora" pitchFamily="2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E034502-3BD6-70DF-8524-8F8B58F7259C}"/>
                </a:ext>
              </a:extLst>
            </p:cNvPr>
            <p:cNvSpPr txBox="1"/>
            <p:nvPr/>
          </p:nvSpPr>
          <p:spPr>
            <a:xfrm>
              <a:off x="332299" y="3880658"/>
              <a:ext cx="463535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spc="600" dirty="0">
                  <a:solidFill>
                    <a:schemeClr val="accent5"/>
                  </a:solidFill>
                  <a:latin typeface="Lora" pitchFamily="2" charset="0"/>
                </a:rPr>
                <a:t>By : Gowri Ganesh Voonna</a:t>
              </a:r>
              <a:br>
                <a:rPr lang="en-US" sz="1600" b="1" spc="600" dirty="0">
                  <a:solidFill>
                    <a:schemeClr val="accent5"/>
                  </a:solidFill>
                  <a:latin typeface="Lora" pitchFamily="2" charset="0"/>
                </a:rPr>
              </a:br>
              <a:r>
                <a:rPr lang="en-US" sz="1600" b="1" spc="600" dirty="0">
                  <a:solidFill>
                    <a:schemeClr val="accent5"/>
                  </a:solidFill>
                  <a:latin typeface="Lora" pitchFamily="2" charset="0"/>
                </a:rPr>
                <a:t>ID – ZPGV10120</a:t>
              </a:r>
              <a:endParaRPr lang="en-IN" sz="1600" b="1" spc="600" dirty="0">
                <a:solidFill>
                  <a:schemeClr val="accent5"/>
                </a:solidFill>
                <a:latin typeface="Lor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1105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9C14D-4E40-DA5F-1924-A47B74117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70A126-CDFE-BB99-24A6-E57BA048067A}"/>
              </a:ext>
            </a:extLst>
          </p:cNvPr>
          <p:cNvSpPr/>
          <p:nvPr/>
        </p:nvSpPr>
        <p:spPr>
          <a:xfrm>
            <a:off x="8040915" y="0"/>
            <a:ext cx="29464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A21EB06-A749-828C-272C-5B22F4E7CE26}"/>
              </a:ext>
            </a:extLst>
          </p:cNvPr>
          <p:cNvGrpSpPr/>
          <p:nvPr/>
        </p:nvGrpSpPr>
        <p:grpSpPr>
          <a:xfrm>
            <a:off x="592759" y="769825"/>
            <a:ext cx="5096901" cy="1523495"/>
            <a:chOff x="5524004" y="1721609"/>
            <a:chExt cx="5606590" cy="152349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BD30DED-FCF8-AB47-BD3D-9D80F4A9A57B}"/>
                </a:ext>
              </a:extLst>
            </p:cNvPr>
            <p:cNvSpPr txBox="1"/>
            <p:nvPr/>
          </p:nvSpPr>
          <p:spPr>
            <a:xfrm>
              <a:off x="5524004" y="2781900"/>
              <a:ext cx="5541818" cy="4632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CB840D2-E23D-2593-5FDD-E8CCEFB8D32A}"/>
                </a:ext>
              </a:extLst>
            </p:cNvPr>
            <p:cNvSpPr txBox="1"/>
            <p:nvPr/>
          </p:nvSpPr>
          <p:spPr>
            <a:xfrm>
              <a:off x="5588776" y="1721609"/>
              <a:ext cx="554181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600" b="1" i="0" dirty="0">
                  <a:solidFill>
                    <a:schemeClr val="accent5"/>
                  </a:solidFill>
                  <a:effectLst/>
                  <a:latin typeface="Lora" pitchFamily="2" charset="0"/>
                </a:rPr>
                <a:t>Problem Statement</a:t>
              </a:r>
              <a:endParaRPr lang="en-IN" sz="3600" b="1" dirty="0">
                <a:solidFill>
                  <a:schemeClr val="accent5"/>
                </a:solidFill>
              </a:endParaRPr>
            </a:p>
          </p:txBody>
        </p:sp>
      </p:grpSp>
      <p:pic>
        <p:nvPicPr>
          <p:cNvPr id="13314" name="Picture 2" descr="Free photo woodworking company managers communicating with male worker at production facility">
            <a:extLst>
              <a:ext uri="{FF2B5EF4-FFF2-40B4-BE49-F238E27FC236}">
                <a16:creationId xmlns:a16="http://schemas.microsoft.com/office/drawing/2014/main" id="{9DF88FCE-2D06-3250-6108-0CAB4CF2A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2438" y="1611086"/>
            <a:ext cx="5458102" cy="3635828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ircle: Hollow 5">
            <a:extLst>
              <a:ext uri="{FF2B5EF4-FFF2-40B4-BE49-F238E27FC236}">
                <a16:creationId xmlns:a16="http://schemas.microsoft.com/office/drawing/2014/main" id="{93189495-070B-B3B4-2F6E-9DE5F5AED38D}"/>
              </a:ext>
            </a:extLst>
          </p:cNvPr>
          <p:cNvSpPr/>
          <p:nvPr/>
        </p:nvSpPr>
        <p:spPr>
          <a:xfrm>
            <a:off x="-871846" y="-687715"/>
            <a:ext cx="1743692" cy="1743690"/>
          </a:xfrm>
          <a:prstGeom prst="don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1E703CB-EAA9-8F94-3E43-997E679F9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27" y="1498115"/>
            <a:ext cx="5784573" cy="4293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Traditional inventory and dispatch systems often face challenges such 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100" dirty="0">
                <a:latin typeface="Arial" panose="020B0604020202020204" pitchFamily="34" charset="0"/>
              </a:rPr>
              <a:t>   -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data entry errors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100" dirty="0">
                <a:latin typeface="Arial" panose="020B0604020202020204" pitchFamily="34" charset="0"/>
              </a:rPr>
              <a:t>   -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Lack of centralized tracking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- Delays in dispatch and receiving            </a:t>
            </a:r>
            <a:r>
              <a:rPr lang="en-US" altLang="en-US" sz="2100" dirty="0">
                <a:latin typeface="Arial" panose="020B0604020202020204" pitchFamily="34" charset="0"/>
              </a:rPr>
              <a:t> 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confirmation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100" dirty="0">
                <a:latin typeface="Arial" panose="020B0604020202020204" pitchFamily="34" charset="0"/>
              </a:rPr>
              <a:t>   -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Limited visibility into vehicle and driver  management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Businesses require a scalable, automated, and efficient solution to manage their end-to-end inventory and dispatch lifecycle.</a:t>
            </a:r>
          </a:p>
        </p:txBody>
      </p:sp>
    </p:spTree>
    <p:extLst>
      <p:ext uri="{BB962C8B-B14F-4D97-AF65-F5344CB8AC3E}">
        <p14:creationId xmlns:p14="http://schemas.microsoft.com/office/powerpoint/2010/main" val="3275558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hoto transportation and logistics.">
            <a:extLst>
              <a:ext uri="{FF2B5EF4-FFF2-40B4-BE49-F238E27FC236}">
                <a16:creationId xmlns:a16="http://schemas.microsoft.com/office/drawing/2014/main" id="{8B56BCD0-4C01-C692-5842-EB0B24101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2354584"/>
            <a:ext cx="7286171" cy="409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1FFCB00-5FFE-D606-78FC-EAC32650C97F}"/>
              </a:ext>
            </a:extLst>
          </p:cNvPr>
          <p:cNvSpPr/>
          <p:nvPr/>
        </p:nvSpPr>
        <p:spPr>
          <a:xfrm>
            <a:off x="4702628" y="39555"/>
            <a:ext cx="7489372" cy="4630057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9A0B750-C1AF-19B1-0ED8-8DAD9CC69708}"/>
              </a:ext>
            </a:extLst>
          </p:cNvPr>
          <p:cNvGrpSpPr/>
          <p:nvPr/>
        </p:nvGrpSpPr>
        <p:grpSpPr>
          <a:xfrm>
            <a:off x="4702628" y="487945"/>
            <a:ext cx="7518066" cy="4449375"/>
            <a:chOff x="4909447" y="1061038"/>
            <a:chExt cx="5541818" cy="444937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B5ED4D8-4504-9A42-01F9-0F79852B50A4}"/>
                </a:ext>
              </a:extLst>
            </p:cNvPr>
            <p:cNvSpPr txBox="1"/>
            <p:nvPr/>
          </p:nvSpPr>
          <p:spPr>
            <a:xfrm>
              <a:off x="4909447" y="1728352"/>
              <a:ext cx="5541818" cy="37820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project focuses on developing a Smart Inventory and Dispatch Management System that enables efficient handling of vehicles, drivers, and inventory through a set of well-structured RESTful APIs. It simplifies dispatch and receive processes, ensures smooth data flow across modules, and provides a scalable solution for managing operations seamlessly. With 22 endpoints, the system is designed to improve accuracy, reduce manual effort, and enhance overall operational efficiency. Future enhancements include adding real-time tracking and advanced analytics.</a:t>
              </a:r>
            </a:p>
            <a:p>
              <a:pPr>
                <a:lnSpc>
                  <a:spcPct val="150000"/>
                </a:lnSpc>
              </a:pPr>
              <a:endPara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E4D0602-7FD8-0986-3518-63CED6B68A19}"/>
                </a:ext>
              </a:extLst>
            </p:cNvPr>
            <p:cNvSpPr txBox="1"/>
            <p:nvPr/>
          </p:nvSpPr>
          <p:spPr>
            <a:xfrm>
              <a:off x="4909447" y="1061038"/>
              <a:ext cx="554181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Brief about Project</a:t>
              </a:r>
              <a:endPara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5495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FED2F8-EFB0-B0FD-16CE-27B4B2826538}"/>
              </a:ext>
            </a:extLst>
          </p:cNvPr>
          <p:cNvSpPr/>
          <p:nvPr/>
        </p:nvSpPr>
        <p:spPr>
          <a:xfrm>
            <a:off x="8984343" y="0"/>
            <a:ext cx="320765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4F6720E-8796-0619-CCA8-F475C9AE23BD}"/>
              </a:ext>
            </a:extLst>
          </p:cNvPr>
          <p:cNvGrpSpPr/>
          <p:nvPr/>
        </p:nvGrpSpPr>
        <p:grpSpPr>
          <a:xfrm>
            <a:off x="267756" y="163767"/>
            <a:ext cx="6858601" cy="5828885"/>
            <a:chOff x="4124785" y="48351"/>
            <a:chExt cx="8298906" cy="582888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B6ADDDA-461E-5CC3-8657-CE6C2D5E8B2A}"/>
                </a:ext>
              </a:extLst>
            </p:cNvPr>
            <p:cNvSpPr txBox="1"/>
            <p:nvPr/>
          </p:nvSpPr>
          <p:spPr>
            <a:xfrm>
              <a:off x="4329961" y="848680"/>
              <a:ext cx="8093730" cy="50285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Developed a centralized Vehicle &amp; Inventory Management System using  </a:t>
              </a:r>
              <a:r>
                <a:rPr lang="en-US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FastAPI</a:t>
              </a:r>
              <a:r>
                <a:rPr 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MongoDB</a:t>
              </a: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RESTful API structure with </a:t>
              </a:r>
              <a:r>
                <a:rPr 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22 endpoints</a:t>
              </a: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for:  </a:t>
              </a:r>
            </a:p>
            <a:p>
              <a:pPr algn="just">
                <a:lnSpc>
                  <a:spcPct val="150000"/>
                </a:lnSpc>
              </a:pP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- Vehicle management  </a:t>
              </a:r>
            </a:p>
            <a:p>
              <a:pPr algn="just">
                <a:lnSpc>
                  <a:spcPct val="150000"/>
                </a:lnSpc>
              </a:pP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- Inventory tracking  </a:t>
              </a:r>
            </a:p>
            <a:p>
              <a:pPr algn="just">
                <a:lnSpc>
                  <a:spcPct val="150000"/>
                </a:lnSpc>
              </a:pP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-  Dispatch &amp; receiving operations  </a:t>
              </a:r>
            </a:p>
            <a:p>
              <a:pPr algn="just">
                <a:lnSpc>
                  <a:spcPct val="150000"/>
                </a:lnSpc>
              </a:pP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- Driver information  </a:t>
              </a:r>
            </a:p>
            <a:p>
              <a:pPr algn="just">
                <a:lnSpc>
                  <a:spcPct val="150000"/>
                </a:lnSpc>
              </a:pP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- Search and reporting  </a:t>
              </a: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Ensures </a:t>
              </a:r>
              <a:r>
                <a:rPr 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accuracy, speed, and scalability</a:t>
              </a: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in managing daily operations  </a:t>
              </a: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Designed with </a:t>
              </a:r>
              <a:r>
                <a:rPr 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enhancements</a:t>
              </a: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in mind (e.g., real-time tracking, advanced analytics) </a:t>
              </a:r>
              <a:endPara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030B9C2-3D1B-1D0B-F2EE-F0B3016A8F39}"/>
                </a:ext>
              </a:extLst>
            </p:cNvPr>
            <p:cNvSpPr txBox="1"/>
            <p:nvPr/>
          </p:nvSpPr>
          <p:spPr>
            <a:xfrm>
              <a:off x="4124785" y="48351"/>
              <a:ext cx="554181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3600" b="1" dirty="0">
                  <a:solidFill>
                    <a:schemeClr val="accent5"/>
                  </a:solidFill>
                  <a:latin typeface="Lora" pitchFamily="2" charset="0"/>
                </a:rPr>
                <a:t>Proposed Solution</a:t>
              </a:r>
              <a:endParaRPr lang="en-IN" sz="3600" b="1" dirty="0">
                <a:solidFill>
                  <a:schemeClr val="accent5"/>
                </a:solidFill>
              </a:endParaRPr>
            </a:p>
          </p:txBody>
        </p:sp>
      </p:grpSp>
      <p:pic>
        <p:nvPicPr>
          <p:cNvPr id="7" name="Picture 6" descr="A picture containing outdoor, water, lake, sky&#10;&#10;Description automatically generated">
            <a:extLst>
              <a:ext uri="{FF2B5EF4-FFF2-40B4-BE49-F238E27FC236}">
                <a16:creationId xmlns:a16="http://schemas.microsoft.com/office/drawing/2014/main" id="{1970B39D-CB7B-7859-8E77-A3944883AC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2525" y="418514"/>
            <a:ext cx="4122058" cy="6179998"/>
          </a:xfrm>
          <a:prstGeom prst="rect">
            <a:avLst/>
          </a:prstGeom>
        </p:spPr>
      </p:pic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30F7CCD7-7E5F-B098-0868-B3C773A232B7}"/>
              </a:ext>
            </a:extLst>
          </p:cNvPr>
          <p:cNvSpPr/>
          <p:nvPr/>
        </p:nvSpPr>
        <p:spPr>
          <a:xfrm>
            <a:off x="-646644" y="5506193"/>
            <a:ext cx="1828800" cy="1828800"/>
          </a:xfrm>
          <a:prstGeom prst="flowChartConnector">
            <a:avLst/>
          </a:prstGeom>
          <a:solidFill>
            <a:schemeClr val="accent5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060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B36235-BEE0-2ADF-FAE6-C0DB75CB50D8}"/>
              </a:ext>
            </a:extLst>
          </p:cNvPr>
          <p:cNvSpPr/>
          <p:nvPr/>
        </p:nvSpPr>
        <p:spPr>
          <a:xfrm>
            <a:off x="6289760" y="0"/>
            <a:ext cx="2859314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D0F7A2-7F56-1615-01A9-15E7CAFD1806}"/>
              </a:ext>
            </a:extLst>
          </p:cNvPr>
          <p:cNvGrpSpPr/>
          <p:nvPr/>
        </p:nvGrpSpPr>
        <p:grpSpPr>
          <a:xfrm>
            <a:off x="-112325" y="1030178"/>
            <a:ext cx="4465664" cy="877933"/>
            <a:chOff x="5524004" y="2367171"/>
            <a:chExt cx="5943799" cy="87793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2ADAC98-6459-597D-5295-AF56E16D1CB5}"/>
                </a:ext>
              </a:extLst>
            </p:cNvPr>
            <p:cNvSpPr txBox="1"/>
            <p:nvPr/>
          </p:nvSpPr>
          <p:spPr>
            <a:xfrm>
              <a:off x="5524004" y="2781900"/>
              <a:ext cx="5943799" cy="4632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5B8AE0B-BFB9-B9BF-42D2-D0088F568022}"/>
                </a:ext>
              </a:extLst>
            </p:cNvPr>
            <p:cNvSpPr txBox="1"/>
            <p:nvPr/>
          </p:nvSpPr>
          <p:spPr>
            <a:xfrm>
              <a:off x="5673509" y="2367171"/>
              <a:ext cx="5541818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3800" b="1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Objectives</a:t>
              </a:r>
              <a:endParaRPr lang="en-IN" sz="38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4098" name="Picture 2" descr="Free photo men with helmet working logistic">
            <a:extLst>
              <a:ext uri="{FF2B5EF4-FFF2-40B4-BE49-F238E27FC236}">
                <a16:creationId xmlns:a16="http://schemas.microsoft.com/office/drawing/2014/main" id="{0F457599-A4F0-95B9-2854-240FFBEC4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986" y="986993"/>
            <a:ext cx="4884014" cy="4884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2155217E-3619-EFDA-28D3-A79488931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209" y="1792695"/>
            <a:ext cx="5585791" cy="186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Automate &amp; streamline inventory operations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 &amp; tracking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Minimize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errors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Deploy with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scalable, containerized architecture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09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21831-4EBA-8A31-7BBD-741CF9F83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8CB37D-5D6F-B67D-595D-E9BE4E898044}"/>
              </a:ext>
            </a:extLst>
          </p:cNvPr>
          <p:cNvSpPr/>
          <p:nvPr/>
        </p:nvSpPr>
        <p:spPr>
          <a:xfrm>
            <a:off x="8984343" y="0"/>
            <a:ext cx="320765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68EFD0-8CA1-9540-E1CC-792B4B7993A0}"/>
              </a:ext>
            </a:extLst>
          </p:cNvPr>
          <p:cNvGrpSpPr/>
          <p:nvPr/>
        </p:nvGrpSpPr>
        <p:grpSpPr>
          <a:xfrm>
            <a:off x="0" y="1435976"/>
            <a:ext cx="5976635" cy="3654726"/>
            <a:chOff x="3800801" y="1320560"/>
            <a:chExt cx="7231728" cy="365472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C20733E-C72F-2531-F927-3426EB3AF2A9}"/>
                </a:ext>
              </a:extLst>
            </p:cNvPr>
            <p:cNvSpPr txBox="1"/>
            <p:nvPr/>
          </p:nvSpPr>
          <p:spPr>
            <a:xfrm>
              <a:off x="5490711" y="2161054"/>
              <a:ext cx="5541818" cy="28142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Backend</a:t>
              </a: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IN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FastAPI</a:t>
              </a: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(Python)</a:t>
              </a: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Database</a:t>
              </a: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MongoDB (NoSQL)</a:t>
              </a: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Containerization</a:t>
              </a:r>
              <a:r>
                <a:rPr lang="en-IN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:Docker,Docker</a:t>
              </a: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Compose</a:t>
              </a: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Others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Pydantic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(validation), Logging, Utilities</a:t>
              </a:r>
              <a:endPara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9BDEF6B-D7C7-77C3-2273-09ABA643375E}"/>
                </a:ext>
              </a:extLst>
            </p:cNvPr>
            <p:cNvSpPr txBox="1"/>
            <p:nvPr/>
          </p:nvSpPr>
          <p:spPr>
            <a:xfrm>
              <a:off x="3800801" y="1320560"/>
              <a:ext cx="5541818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3800" b="1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Tech Stack</a:t>
              </a:r>
              <a:endParaRPr lang="en-IN" sz="38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7" name="Picture 6" descr="A picture containing outdoor, water, lake, sky&#10;&#10;Description automatically generated">
            <a:extLst>
              <a:ext uri="{FF2B5EF4-FFF2-40B4-BE49-F238E27FC236}">
                <a16:creationId xmlns:a16="http://schemas.microsoft.com/office/drawing/2014/main" id="{D7AA3311-9F81-3DA6-4D5E-8419D4C65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856" y="339001"/>
            <a:ext cx="4122058" cy="6179998"/>
          </a:xfrm>
          <a:prstGeom prst="rect">
            <a:avLst/>
          </a:prstGeom>
        </p:spPr>
      </p:pic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524BA4AD-C763-8660-34EE-2A0448E08DFA}"/>
              </a:ext>
            </a:extLst>
          </p:cNvPr>
          <p:cNvSpPr/>
          <p:nvPr/>
        </p:nvSpPr>
        <p:spPr>
          <a:xfrm>
            <a:off x="-914400" y="2574150"/>
            <a:ext cx="1828800" cy="1828800"/>
          </a:xfrm>
          <a:prstGeom prst="flowChartConnector">
            <a:avLst/>
          </a:prstGeom>
          <a:solidFill>
            <a:schemeClr val="accent5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39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8358B5-F0E3-23BB-54B6-3C1F6E7F2846}"/>
              </a:ext>
            </a:extLst>
          </p:cNvPr>
          <p:cNvSpPr/>
          <p:nvPr/>
        </p:nvSpPr>
        <p:spPr>
          <a:xfrm>
            <a:off x="0" y="0"/>
            <a:ext cx="2743200" cy="468811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751EE66-C2CF-9398-915D-9BF1D9493315}"/>
              </a:ext>
            </a:extLst>
          </p:cNvPr>
          <p:cNvGrpSpPr/>
          <p:nvPr/>
        </p:nvGrpSpPr>
        <p:grpSpPr>
          <a:xfrm>
            <a:off x="6510282" y="1973986"/>
            <a:ext cx="5038017" cy="3771033"/>
            <a:chOff x="5524004" y="1581571"/>
            <a:chExt cx="5541818" cy="377103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FDC25BD-6C3A-95D6-A259-63082CC6DBF5}"/>
                </a:ext>
              </a:extLst>
            </p:cNvPr>
            <p:cNvSpPr txBox="1"/>
            <p:nvPr/>
          </p:nvSpPr>
          <p:spPr>
            <a:xfrm>
              <a:off x="5524004" y="2781900"/>
              <a:ext cx="5541818" cy="25707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Flow:</a:t>
              </a:r>
              <a:br>
                <a: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IN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Client → </a:t>
              </a:r>
              <a:r>
                <a:rPr lang="en-IN" sz="2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FastAPI</a:t>
              </a:r>
              <a:r>
                <a:rPr lang="en-IN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App → MongoDB Database</a:t>
              </a:r>
              <a:endParaRPr lang="en-I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IN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Docker Setup</a:t>
              </a:r>
              <a:r>
                <a: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App + DB services running in containers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Modular &amp; scalable design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IN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FE95235-1877-36A1-379A-011D0C8054BA}"/>
                </a:ext>
              </a:extLst>
            </p:cNvPr>
            <p:cNvSpPr txBox="1"/>
            <p:nvPr/>
          </p:nvSpPr>
          <p:spPr>
            <a:xfrm>
              <a:off x="5524004" y="1581571"/>
              <a:ext cx="554181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b="1" i="0" dirty="0">
                  <a:solidFill>
                    <a:schemeClr val="accent5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System</a:t>
              </a:r>
              <a:r>
                <a:rPr lang="en-US" sz="3600" b="1" i="0" dirty="0">
                  <a:solidFill>
                    <a:schemeClr val="accent5"/>
                  </a:solidFill>
                  <a:effectLst/>
                  <a:latin typeface="Lora" pitchFamily="2" charset="0"/>
                </a:rPr>
                <a:t> Architecture</a:t>
              </a:r>
              <a:endParaRPr lang="en-IN" sz="3600" b="1" dirty="0">
                <a:solidFill>
                  <a:schemeClr val="accent5"/>
                </a:solidFill>
              </a:endParaRPr>
            </a:p>
          </p:txBody>
        </p:sp>
      </p:grpSp>
      <p:pic>
        <p:nvPicPr>
          <p:cNvPr id="5124" name="Picture 4" descr="Photo large storage room with shelving and pallets 3d rendering">
            <a:extLst>
              <a:ext uri="{FF2B5EF4-FFF2-40B4-BE49-F238E27FC236}">
                <a16:creationId xmlns:a16="http://schemas.microsoft.com/office/drawing/2014/main" id="{827ACC25-978E-7594-A806-C4AE985BB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32" y="1306286"/>
            <a:ext cx="5551714" cy="5551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ircle: Hollow 5">
            <a:extLst>
              <a:ext uri="{FF2B5EF4-FFF2-40B4-BE49-F238E27FC236}">
                <a16:creationId xmlns:a16="http://schemas.microsoft.com/office/drawing/2014/main" id="{B1753631-F808-736A-1CEC-46BFC33D6970}"/>
              </a:ext>
            </a:extLst>
          </p:cNvPr>
          <p:cNvSpPr/>
          <p:nvPr/>
        </p:nvSpPr>
        <p:spPr>
          <a:xfrm>
            <a:off x="11320154" y="-871845"/>
            <a:ext cx="1743692" cy="1743690"/>
          </a:xfrm>
          <a:prstGeom prst="don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133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52FE7-44C1-9213-DD9E-C7EADF1B1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7EE211-1BE0-641D-A5FC-D50FADFF7F87}"/>
              </a:ext>
            </a:extLst>
          </p:cNvPr>
          <p:cNvSpPr/>
          <p:nvPr/>
        </p:nvSpPr>
        <p:spPr>
          <a:xfrm>
            <a:off x="0" y="0"/>
            <a:ext cx="2656114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4B0157-5287-8CA0-5309-DA95081677D6}"/>
              </a:ext>
            </a:extLst>
          </p:cNvPr>
          <p:cNvGrpSpPr/>
          <p:nvPr/>
        </p:nvGrpSpPr>
        <p:grpSpPr>
          <a:xfrm>
            <a:off x="6495768" y="2181735"/>
            <a:ext cx="5696232" cy="1663533"/>
            <a:chOff x="5524004" y="1581571"/>
            <a:chExt cx="6265854" cy="166353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E6786C5-472D-951C-AD2F-4E744E1EE5AA}"/>
                </a:ext>
              </a:extLst>
            </p:cNvPr>
            <p:cNvSpPr txBox="1"/>
            <p:nvPr/>
          </p:nvSpPr>
          <p:spPr>
            <a:xfrm>
              <a:off x="5524004" y="2781900"/>
              <a:ext cx="5541818" cy="4632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endPara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B41EE81-293E-8A25-0480-46D8CE175A32}"/>
                </a:ext>
              </a:extLst>
            </p:cNvPr>
            <p:cNvSpPr txBox="1"/>
            <p:nvPr/>
          </p:nvSpPr>
          <p:spPr>
            <a:xfrm>
              <a:off x="5524004" y="1581571"/>
              <a:ext cx="6265854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800" b="1" i="0" dirty="0">
                  <a:solidFill>
                    <a:schemeClr val="accent5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Features Implemented</a:t>
              </a:r>
              <a:endParaRPr lang="en-IN" sz="38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9" name="Picture 8" descr="A toy truck on a map&#10;&#10;Description automatically generated with low confidence">
            <a:extLst>
              <a:ext uri="{FF2B5EF4-FFF2-40B4-BE49-F238E27FC236}">
                <a16:creationId xmlns:a16="http://schemas.microsoft.com/office/drawing/2014/main" id="{BEC3F505-7E81-6C0A-4D4F-C463C59F9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4070"/>
            <a:ext cx="5921828" cy="3949860"/>
          </a:xfrm>
          <a:prstGeom prst="rect">
            <a:avLst/>
          </a:prstGeom>
        </p:spPr>
      </p:pic>
      <p:sp>
        <p:nvSpPr>
          <p:cNvPr id="6" name="Circle: Hollow 5">
            <a:extLst>
              <a:ext uri="{FF2B5EF4-FFF2-40B4-BE49-F238E27FC236}">
                <a16:creationId xmlns:a16="http://schemas.microsoft.com/office/drawing/2014/main" id="{7DFCD1FE-722E-11FD-00B8-B8CD9F6AD001}"/>
              </a:ext>
            </a:extLst>
          </p:cNvPr>
          <p:cNvSpPr/>
          <p:nvPr/>
        </p:nvSpPr>
        <p:spPr>
          <a:xfrm>
            <a:off x="10787269" y="5538736"/>
            <a:ext cx="1743692" cy="1743690"/>
          </a:xfrm>
          <a:prstGeom prst="don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DBE1A48-9C3C-6FF3-1E76-53EA77364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5768" y="3229715"/>
            <a:ext cx="5038017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Vehicle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Dispatch &amp; Receive tracking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Real-time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Inventory updates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Search &amp; Filter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functionalities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Error handling &amp; validation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Logging &amp; monitoring</a:t>
            </a:r>
          </a:p>
        </p:txBody>
      </p:sp>
    </p:spTree>
    <p:extLst>
      <p:ext uri="{BB962C8B-B14F-4D97-AF65-F5344CB8AC3E}">
        <p14:creationId xmlns:p14="http://schemas.microsoft.com/office/powerpoint/2010/main" val="2309753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ECFBA-8D32-E54D-6BB7-CBCCEA6BD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99FF63-9F58-7484-1FEB-09778FA81F13}"/>
              </a:ext>
            </a:extLst>
          </p:cNvPr>
          <p:cNvSpPr/>
          <p:nvPr/>
        </p:nvSpPr>
        <p:spPr>
          <a:xfrm>
            <a:off x="8984343" y="0"/>
            <a:ext cx="320765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324C85-B01F-B2B4-B150-A35025CA0C90}"/>
              </a:ext>
            </a:extLst>
          </p:cNvPr>
          <p:cNvSpPr txBox="1"/>
          <p:nvPr/>
        </p:nvSpPr>
        <p:spPr>
          <a:xfrm>
            <a:off x="89452" y="1356463"/>
            <a:ext cx="581530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800" b="1" i="0" dirty="0">
                <a:solidFill>
                  <a:schemeClr val="accent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Endpoints Overview</a:t>
            </a:r>
            <a:endParaRPr lang="en-IN" sz="3800" b="1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picture containing outdoor, water, lake, sky&#10;&#10;Description automatically generated">
            <a:extLst>
              <a:ext uri="{FF2B5EF4-FFF2-40B4-BE49-F238E27FC236}">
                <a16:creationId xmlns:a16="http://schemas.microsoft.com/office/drawing/2014/main" id="{22E948F3-F461-942F-6628-192B269BF1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856" y="339001"/>
            <a:ext cx="4122058" cy="6179998"/>
          </a:xfrm>
          <a:prstGeom prst="rect">
            <a:avLst/>
          </a:prstGeom>
        </p:spPr>
      </p:pic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CCEF728E-CFED-B767-7EDB-E35493A306F0}"/>
              </a:ext>
            </a:extLst>
          </p:cNvPr>
          <p:cNvSpPr/>
          <p:nvPr/>
        </p:nvSpPr>
        <p:spPr>
          <a:xfrm>
            <a:off x="-914400" y="2574150"/>
            <a:ext cx="1828800" cy="1828800"/>
          </a:xfrm>
          <a:prstGeom prst="flowChartConnector">
            <a:avLst/>
          </a:prstGeom>
          <a:solidFill>
            <a:schemeClr val="accent5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CEB85C-E979-52A5-D50F-B55DEEC1B1AA}"/>
              </a:ext>
            </a:extLst>
          </p:cNvPr>
          <p:cNvSpPr txBox="1"/>
          <p:nvPr/>
        </p:nvSpPr>
        <p:spPr>
          <a:xfrm>
            <a:off x="1329358" y="2249719"/>
            <a:ext cx="6554856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Total endpoints: 22  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Categories:  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Vehicle  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Inventory  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Driver  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Dispatch  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Receive  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Search  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RESTful API structure</a:t>
            </a:r>
          </a:p>
        </p:txBody>
      </p:sp>
    </p:spTree>
    <p:extLst>
      <p:ext uri="{BB962C8B-B14F-4D97-AF65-F5344CB8AC3E}">
        <p14:creationId xmlns:p14="http://schemas.microsoft.com/office/powerpoint/2010/main" val="2430772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865F7-423E-B4AE-E262-D41C6E46B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90A1D1-F2A0-3AC4-49D4-A0555039A938}"/>
              </a:ext>
            </a:extLst>
          </p:cNvPr>
          <p:cNvSpPr/>
          <p:nvPr/>
        </p:nvSpPr>
        <p:spPr>
          <a:xfrm>
            <a:off x="0" y="0"/>
            <a:ext cx="2743200" cy="468811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6C31CA5-B722-E6DD-7728-3BE63C697FE2}"/>
              </a:ext>
            </a:extLst>
          </p:cNvPr>
          <p:cNvGrpSpPr/>
          <p:nvPr/>
        </p:nvGrpSpPr>
        <p:grpSpPr>
          <a:xfrm>
            <a:off x="6440708" y="1884534"/>
            <a:ext cx="5038017" cy="1663533"/>
            <a:chOff x="5524004" y="1581571"/>
            <a:chExt cx="5541818" cy="166353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0771253-D830-A9AA-913A-AE3F040249AB}"/>
                </a:ext>
              </a:extLst>
            </p:cNvPr>
            <p:cNvSpPr txBox="1"/>
            <p:nvPr/>
          </p:nvSpPr>
          <p:spPr>
            <a:xfrm>
              <a:off x="5524004" y="2781900"/>
              <a:ext cx="5541818" cy="4632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endPara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FF98875-6FCB-E4AF-E2B6-ED328BF4BF78}"/>
                </a:ext>
              </a:extLst>
            </p:cNvPr>
            <p:cNvSpPr txBox="1"/>
            <p:nvPr/>
          </p:nvSpPr>
          <p:spPr>
            <a:xfrm>
              <a:off x="5524004" y="1581571"/>
              <a:ext cx="5541818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800" b="1" i="0" dirty="0">
                  <a:solidFill>
                    <a:schemeClr val="accent5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Sample Endpoints</a:t>
              </a:r>
              <a:endParaRPr lang="en-IN" sz="38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5124" name="Picture 4" descr="Photo large storage room with shelving and pallets 3d rendering">
            <a:extLst>
              <a:ext uri="{FF2B5EF4-FFF2-40B4-BE49-F238E27FC236}">
                <a16:creationId xmlns:a16="http://schemas.microsoft.com/office/drawing/2014/main" id="{0A6C047A-B702-84E4-BB26-A847DD25C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657" y="653143"/>
            <a:ext cx="5551714" cy="5551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ircle: Hollow 5">
            <a:extLst>
              <a:ext uri="{FF2B5EF4-FFF2-40B4-BE49-F238E27FC236}">
                <a16:creationId xmlns:a16="http://schemas.microsoft.com/office/drawing/2014/main" id="{BE68F5FA-83F6-145B-E0DA-8C18D8DE184B}"/>
              </a:ext>
            </a:extLst>
          </p:cNvPr>
          <p:cNvSpPr/>
          <p:nvPr/>
        </p:nvSpPr>
        <p:spPr>
          <a:xfrm>
            <a:off x="10496366" y="-323702"/>
            <a:ext cx="1743692" cy="1743690"/>
          </a:xfrm>
          <a:prstGeom prst="don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7FAF4F5-A9BA-1AE6-47EC-DA62C15DA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0708" y="2578571"/>
            <a:ext cx="558299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PUT 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mark_dispatch_received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POST 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create_vehicle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GET 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get_inventory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Request/Response handled via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216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D6BB3F-1F51-2CCC-9FD5-F54FE0FC3484}"/>
              </a:ext>
            </a:extLst>
          </p:cNvPr>
          <p:cNvSpPr/>
          <p:nvPr/>
        </p:nvSpPr>
        <p:spPr>
          <a:xfrm>
            <a:off x="0" y="0"/>
            <a:ext cx="2656114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0D0DE7A-9EC6-5FE6-2E93-6C5E00BEDC1D}"/>
              </a:ext>
            </a:extLst>
          </p:cNvPr>
          <p:cNvGrpSpPr/>
          <p:nvPr/>
        </p:nvGrpSpPr>
        <p:grpSpPr>
          <a:xfrm>
            <a:off x="6270174" y="2030792"/>
            <a:ext cx="5263612" cy="1814476"/>
            <a:chOff x="5275850" y="1430628"/>
            <a:chExt cx="5789972" cy="181447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0C336A5-29E7-5B70-B895-CFE205BD044B}"/>
                </a:ext>
              </a:extLst>
            </p:cNvPr>
            <p:cNvSpPr txBox="1"/>
            <p:nvPr/>
          </p:nvSpPr>
          <p:spPr>
            <a:xfrm>
              <a:off x="5524004" y="2781900"/>
              <a:ext cx="5541818" cy="4632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endPara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8C971FA-1DB5-430E-3FE4-9259073251FA}"/>
                </a:ext>
              </a:extLst>
            </p:cNvPr>
            <p:cNvSpPr txBox="1"/>
            <p:nvPr/>
          </p:nvSpPr>
          <p:spPr>
            <a:xfrm>
              <a:off x="5275850" y="1430628"/>
              <a:ext cx="554181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600" b="1" dirty="0">
                  <a:solidFill>
                    <a:schemeClr val="accent5"/>
                  </a:solidFill>
                </a:rPr>
                <a:t>Data Models</a:t>
              </a:r>
            </a:p>
          </p:txBody>
        </p:sp>
      </p:grpSp>
      <p:pic>
        <p:nvPicPr>
          <p:cNvPr id="9" name="Picture 8" descr="A toy truck on a map&#10;&#10;Description automatically generated with low confidence">
            <a:extLst>
              <a:ext uri="{FF2B5EF4-FFF2-40B4-BE49-F238E27FC236}">
                <a16:creationId xmlns:a16="http://schemas.microsoft.com/office/drawing/2014/main" id="{5B82C3E4-4F00-67DD-6B6E-0CFC4DE0B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4070"/>
            <a:ext cx="5921828" cy="3949860"/>
          </a:xfrm>
          <a:prstGeom prst="rect">
            <a:avLst/>
          </a:prstGeom>
        </p:spPr>
      </p:pic>
      <p:sp>
        <p:nvSpPr>
          <p:cNvPr id="6" name="Circle: Hollow 5">
            <a:extLst>
              <a:ext uri="{FF2B5EF4-FFF2-40B4-BE49-F238E27FC236}">
                <a16:creationId xmlns:a16="http://schemas.microsoft.com/office/drawing/2014/main" id="{30546D4E-B042-0C72-71CE-973CE91AE7BC}"/>
              </a:ext>
            </a:extLst>
          </p:cNvPr>
          <p:cNvSpPr/>
          <p:nvPr/>
        </p:nvSpPr>
        <p:spPr>
          <a:xfrm>
            <a:off x="11087926" y="-681984"/>
            <a:ext cx="1743692" cy="1743690"/>
          </a:xfrm>
          <a:prstGeom prst="don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F9C47A-BEB9-113E-A4BA-3CF364229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173" y="3016228"/>
            <a:ext cx="5939571" cy="1168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90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74C95-EC4E-8F8E-6635-A20E99760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D58F7C-EAF0-B1C0-F479-2085558ACB92}"/>
              </a:ext>
            </a:extLst>
          </p:cNvPr>
          <p:cNvSpPr/>
          <p:nvPr/>
        </p:nvSpPr>
        <p:spPr>
          <a:xfrm>
            <a:off x="8040915" y="0"/>
            <a:ext cx="29464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CA1D5CF-801D-2C1A-CD38-2E0B18C3EE39}"/>
              </a:ext>
            </a:extLst>
          </p:cNvPr>
          <p:cNvGrpSpPr/>
          <p:nvPr/>
        </p:nvGrpSpPr>
        <p:grpSpPr>
          <a:xfrm>
            <a:off x="622576" y="1837025"/>
            <a:ext cx="5096901" cy="1523495"/>
            <a:chOff x="5524004" y="1721609"/>
            <a:chExt cx="5606590" cy="152349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A8D49F6-94EC-5BE9-5294-930F9F24A987}"/>
                </a:ext>
              </a:extLst>
            </p:cNvPr>
            <p:cNvSpPr txBox="1"/>
            <p:nvPr/>
          </p:nvSpPr>
          <p:spPr>
            <a:xfrm>
              <a:off x="5524004" y="2781900"/>
              <a:ext cx="5541818" cy="4632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9947022-51A7-BBDA-19C2-B12327F276D3}"/>
                </a:ext>
              </a:extLst>
            </p:cNvPr>
            <p:cNvSpPr txBox="1"/>
            <p:nvPr/>
          </p:nvSpPr>
          <p:spPr>
            <a:xfrm>
              <a:off x="5588776" y="1721609"/>
              <a:ext cx="5541818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800" b="1" i="0" dirty="0">
                  <a:solidFill>
                    <a:schemeClr val="accent5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Helper Functions</a:t>
              </a:r>
              <a:endParaRPr lang="en-IN" sz="38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3314" name="Picture 2" descr="Free photo woodworking company managers communicating with male worker at production facility">
            <a:extLst>
              <a:ext uri="{FF2B5EF4-FFF2-40B4-BE49-F238E27FC236}">
                <a16:creationId xmlns:a16="http://schemas.microsoft.com/office/drawing/2014/main" id="{FC64C267-F4D9-CB6D-C98A-CAC1A6CC53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2438" y="1611086"/>
            <a:ext cx="5458102" cy="3635828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ircle: Hollow 5">
            <a:extLst>
              <a:ext uri="{FF2B5EF4-FFF2-40B4-BE49-F238E27FC236}">
                <a16:creationId xmlns:a16="http://schemas.microsoft.com/office/drawing/2014/main" id="{C2266607-5E3D-6A06-FBC3-44EF90D4B9C0}"/>
              </a:ext>
            </a:extLst>
          </p:cNvPr>
          <p:cNvSpPr/>
          <p:nvPr/>
        </p:nvSpPr>
        <p:spPr>
          <a:xfrm>
            <a:off x="-871846" y="-687715"/>
            <a:ext cx="1743692" cy="1743690"/>
          </a:xfrm>
          <a:prstGeom prst="don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BDCE391-9574-3190-2326-B6C8123F5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685" y="2659080"/>
            <a:ext cx="425189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Normalization: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IDs, names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Time: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UTC datetime handling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Utilities: DB operations &amp;     validation support</a:t>
            </a:r>
          </a:p>
        </p:txBody>
      </p:sp>
    </p:spTree>
    <p:extLst>
      <p:ext uri="{BB962C8B-B14F-4D97-AF65-F5344CB8AC3E}">
        <p14:creationId xmlns:p14="http://schemas.microsoft.com/office/powerpoint/2010/main" val="2184558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9DFE8-A1F7-C944-F121-E66C44B8B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8EE95EB-C600-1F76-96A0-ACA80210AED4}"/>
              </a:ext>
            </a:extLst>
          </p:cNvPr>
          <p:cNvSpPr/>
          <p:nvPr/>
        </p:nvSpPr>
        <p:spPr>
          <a:xfrm>
            <a:off x="7228116" y="0"/>
            <a:ext cx="29464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7BB9F83-202E-DB14-9F3C-D85810052A32}"/>
              </a:ext>
            </a:extLst>
          </p:cNvPr>
          <p:cNvGrpSpPr/>
          <p:nvPr/>
        </p:nvGrpSpPr>
        <p:grpSpPr>
          <a:xfrm>
            <a:off x="709894" y="2115418"/>
            <a:ext cx="5725114" cy="1452851"/>
            <a:chOff x="5340709" y="1792253"/>
            <a:chExt cx="5725113" cy="145285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8C54CD7-DE50-D55B-881F-BFD0ACF265B2}"/>
                </a:ext>
              </a:extLst>
            </p:cNvPr>
            <p:cNvSpPr txBox="1"/>
            <p:nvPr/>
          </p:nvSpPr>
          <p:spPr>
            <a:xfrm>
              <a:off x="5524004" y="2781900"/>
              <a:ext cx="5541818" cy="4632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C5090E0-8104-8894-59EE-6C0B148AAFB1}"/>
                </a:ext>
              </a:extLst>
            </p:cNvPr>
            <p:cNvSpPr txBox="1"/>
            <p:nvPr/>
          </p:nvSpPr>
          <p:spPr>
            <a:xfrm>
              <a:off x="5340709" y="1792253"/>
              <a:ext cx="5541818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3800" b="1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Docker &amp; Deployment</a:t>
              </a:r>
            </a:p>
          </p:txBody>
        </p:sp>
      </p:grpSp>
      <p:pic>
        <p:nvPicPr>
          <p:cNvPr id="15364" name="Picture 4" descr="Free photo supply chain representation still life">
            <a:extLst>
              <a:ext uri="{FF2B5EF4-FFF2-40B4-BE49-F238E27FC236}">
                <a16:creationId xmlns:a16="http://schemas.microsoft.com/office/drawing/2014/main" id="{DD2007EE-CF89-DA80-6BE7-4811BAE8A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608" y="0"/>
            <a:ext cx="455739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ircle: Hollow 4">
            <a:extLst>
              <a:ext uri="{FF2B5EF4-FFF2-40B4-BE49-F238E27FC236}">
                <a16:creationId xmlns:a16="http://schemas.microsoft.com/office/drawing/2014/main" id="{8BC5A1EA-46C5-91B7-3E45-CF9F8A4046D2}"/>
              </a:ext>
            </a:extLst>
          </p:cNvPr>
          <p:cNvSpPr/>
          <p:nvPr/>
        </p:nvSpPr>
        <p:spPr>
          <a:xfrm>
            <a:off x="-697114" y="5867401"/>
            <a:ext cx="1743692" cy="1743690"/>
          </a:xfrm>
          <a:prstGeom prst="don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7E93F94-8262-09D9-A23C-A33C97D9F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2026" y="2792526"/>
            <a:ext cx="494968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.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dockerignore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build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Docker Compose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App + Mongo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Portable &amp; scalable deployment</a:t>
            </a:r>
          </a:p>
        </p:txBody>
      </p:sp>
    </p:spTree>
    <p:extLst>
      <p:ext uri="{BB962C8B-B14F-4D97-AF65-F5344CB8AC3E}">
        <p14:creationId xmlns:p14="http://schemas.microsoft.com/office/powerpoint/2010/main" val="3982084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4EEBA-78EE-A3C6-EFB8-4CC93D039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F358790-01C6-A00E-65E7-6F01A25E0241}"/>
              </a:ext>
            </a:extLst>
          </p:cNvPr>
          <p:cNvGrpSpPr/>
          <p:nvPr/>
        </p:nvGrpSpPr>
        <p:grpSpPr>
          <a:xfrm>
            <a:off x="0" y="1397000"/>
            <a:ext cx="7617714" cy="4064000"/>
            <a:chOff x="0" y="1654629"/>
            <a:chExt cx="7617714" cy="4064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1E06CBD-EF57-1862-2CBF-F1432157C5D2}"/>
                </a:ext>
              </a:extLst>
            </p:cNvPr>
            <p:cNvSpPr/>
            <p:nvPr/>
          </p:nvSpPr>
          <p:spPr>
            <a:xfrm>
              <a:off x="0" y="1654629"/>
              <a:ext cx="7617714" cy="406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IN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B452E89-10E9-74C9-C8C7-7F6271813E8C}"/>
                </a:ext>
              </a:extLst>
            </p:cNvPr>
            <p:cNvGrpSpPr/>
            <p:nvPr/>
          </p:nvGrpSpPr>
          <p:grpSpPr>
            <a:xfrm>
              <a:off x="550117" y="2284637"/>
              <a:ext cx="5634366" cy="1333512"/>
              <a:chOff x="4868020" y="1911592"/>
              <a:chExt cx="6197802" cy="1333512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6D50FE-D4C6-C4F4-D10F-7A0A69ED4DD1}"/>
                  </a:ext>
                </a:extLst>
              </p:cNvPr>
              <p:cNvSpPr txBox="1"/>
              <p:nvPr/>
            </p:nvSpPr>
            <p:spPr>
              <a:xfrm>
                <a:off x="5524004" y="2781900"/>
                <a:ext cx="5541818" cy="4632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endParaRPr lang="en-IN" dirty="0">
                  <a:solidFill>
                    <a:schemeClr val="bg1"/>
                  </a:solidFill>
                  <a:latin typeface="Lora" pitchFamily="2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609971-0DDC-7A7C-ACB9-27B48959D9D4}"/>
                  </a:ext>
                </a:extLst>
              </p:cNvPr>
              <p:cNvSpPr txBox="1"/>
              <p:nvPr/>
            </p:nvSpPr>
            <p:spPr>
              <a:xfrm>
                <a:off x="4868020" y="1911592"/>
                <a:ext cx="5541818" cy="677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3800" b="1" i="0" dirty="0"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Achievements</a:t>
                </a:r>
                <a:endParaRPr lang="en-IN" sz="3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pic>
        <p:nvPicPr>
          <p:cNvPr id="8194" name="Picture 2" descr="Free photo people at work full shot">
            <a:extLst>
              <a:ext uri="{FF2B5EF4-FFF2-40B4-BE49-F238E27FC236}">
                <a16:creationId xmlns:a16="http://schemas.microsoft.com/office/drawing/2014/main" id="{9B98C642-042D-D96A-3DC4-62795AB48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0948" y="0"/>
            <a:ext cx="4861052" cy="7044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15D793A5-8B9B-BF07-C509-482887679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6183" y="2753501"/>
            <a:ext cx="453224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Fully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containerized solution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Clean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modular design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reusability of models &amp;   helpers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328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7AD2C-E720-DA5A-9386-5D7A6B3A8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7643A0-9C9D-112D-BE64-DE4DA7CB6FF1}"/>
              </a:ext>
            </a:extLst>
          </p:cNvPr>
          <p:cNvSpPr/>
          <p:nvPr/>
        </p:nvSpPr>
        <p:spPr>
          <a:xfrm>
            <a:off x="8040915" y="0"/>
            <a:ext cx="29464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8CCF9F8-A4A3-0FB1-AFE8-8F6F4E2AD3CF}"/>
              </a:ext>
            </a:extLst>
          </p:cNvPr>
          <p:cNvGrpSpPr/>
          <p:nvPr/>
        </p:nvGrpSpPr>
        <p:grpSpPr>
          <a:xfrm>
            <a:off x="592758" y="1545254"/>
            <a:ext cx="5038017" cy="1268614"/>
            <a:chOff x="5524004" y="1976490"/>
            <a:chExt cx="5541818" cy="126861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997C32-9DBA-D938-2FE8-D62513D471AE}"/>
                </a:ext>
              </a:extLst>
            </p:cNvPr>
            <p:cNvSpPr txBox="1"/>
            <p:nvPr/>
          </p:nvSpPr>
          <p:spPr>
            <a:xfrm>
              <a:off x="5524004" y="2781900"/>
              <a:ext cx="5541818" cy="4632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9002AAF-FCAA-D1A9-ACF1-5DDED87886DE}"/>
                </a:ext>
              </a:extLst>
            </p:cNvPr>
            <p:cNvSpPr txBox="1"/>
            <p:nvPr/>
          </p:nvSpPr>
          <p:spPr>
            <a:xfrm>
              <a:off x="5524004" y="1976490"/>
              <a:ext cx="5541818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3800" b="1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Enhancements</a:t>
              </a:r>
            </a:p>
          </p:txBody>
        </p:sp>
      </p:grpSp>
      <p:pic>
        <p:nvPicPr>
          <p:cNvPr id="13314" name="Picture 2" descr="Free photo woodworking company managers communicating with male worker at production facility">
            <a:extLst>
              <a:ext uri="{FF2B5EF4-FFF2-40B4-BE49-F238E27FC236}">
                <a16:creationId xmlns:a16="http://schemas.microsoft.com/office/drawing/2014/main" id="{09CEC41E-A894-A122-4A2E-1146500D7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2438" y="1611086"/>
            <a:ext cx="5458102" cy="3635828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ircle: Hollow 5">
            <a:extLst>
              <a:ext uri="{FF2B5EF4-FFF2-40B4-BE49-F238E27FC236}">
                <a16:creationId xmlns:a16="http://schemas.microsoft.com/office/drawing/2014/main" id="{BA4ABA1F-A042-BB6A-E35B-1CA0120F8454}"/>
              </a:ext>
            </a:extLst>
          </p:cNvPr>
          <p:cNvSpPr/>
          <p:nvPr/>
        </p:nvSpPr>
        <p:spPr>
          <a:xfrm>
            <a:off x="-871846" y="-687715"/>
            <a:ext cx="1743692" cy="1743690"/>
          </a:xfrm>
          <a:prstGeom prst="don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B7C1722-2213-03EF-1672-6DE057C89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426" y="2222362"/>
            <a:ext cx="430364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Role-based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&amp; authorization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Analytics &amp; dashboards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CI/CD pipeline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Cloud deployment (AWS/GCP/Azure)</a:t>
            </a:r>
          </a:p>
        </p:txBody>
      </p:sp>
    </p:spTree>
    <p:extLst>
      <p:ext uri="{BB962C8B-B14F-4D97-AF65-F5344CB8AC3E}">
        <p14:creationId xmlns:p14="http://schemas.microsoft.com/office/powerpoint/2010/main" val="2614248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1D15C5-AC8A-A8D2-5FE5-328D3334B5D5}"/>
              </a:ext>
            </a:extLst>
          </p:cNvPr>
          <p:cNvSpPr/>
          <p:nvPr/>
        </p:nvSpPr>
        <p:spPr>
          <a:xfrm>
            <a:off x="7228116" y="0"/>
            <a:ext cx="29464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68EC23C-BE4F-C3B0-8B11-866DE48650FC}"/>
              </a:ext>
            </a:extLst>
          </p:cNvPr>
          <p:cNvGrpSpPr/>
          <p:nvPr/>
        </p:nvGrpSpPr>
        <p:grpSpPr>
          <a:xfrm>
            <a:off x="893189" y="1880527"/>
            <a:ext cx="5541819" cy="1687742"/>
            <a:chOff x="5524004" y="1557362"/>
            <a:chExt cx="5541818" cy="168774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E3DC192-E799-EE68-922C-24847A356794}"/>
                </a:ext>
              </a:extLst>
            </p:cNvPr>
            <p:cNvSpPr txBox="1"/>
            <p:nvPr/>
          </p:nvSpPr>
          <p:spPr>
            <a:xfrm>
              <a:off x="5524004" y="2781900"/>
              <a:ext cx="5541818" cy="4632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CE07ED6-68DE-B5F7-37B6-0C8B905157C1}"/>
                </a:ext>
              </a:extLst>
            </p:cNvPr>
            <p:cNvSpPr txBox="1"/>
            <p:nvPr/>
          </p:nvSpPr>
          <p:spPr>
            <a:xfrm>
              <a:off x="5524004" y="1557362"/>
              <a:ext cx="5541818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3800" b="1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</a:t>
              </a:r>
            </a:p>
          </p:txBody>
        </p:sp>
      </p:grpSp>
      <p:pic>
        <p:nvPicPr>
          <p:cNvPr id="15364" name="Picture 4" descr="Free photo supply chain representation still life">
            <a:extLst>
              <a:ext uri="{FF2B5EF4-FFF2-40B4-BE49-F238E27FC236}">
                <a16:creationId xmlns:a16="http://schemas.microsoft.com/office/drawing/2014/main" id="{E09F2F0F-5DEA-530D-4123-9193E09B6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608" y="0"/>
            <a:ext cx="455739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ircle: Hollow 4">
            <a:extLst>
              <a:ext uri="{FF2B5EF4-FFF2-40B4-BE49-F238E27FC236}">
                <a16:creationId xmlns:a16="http://schemas.microsoft.com/office/drawing/2014/main" id="{3CC3105B-B875-7291-39AC-1CCC22AACFDB}"/>
              </a:ext>
            </a:extLst>
          </p:cNvPr>
          <p:cNvSpPr/>
          <p:nvPr/>
        </p:nvSpPr>
        <p:spPr>
          <a:xfrm>
            <a:off x="-697114" y="5867401"/>
            <a:ext cx="1743692" cy="1743690"/>
          </a:xfrm>
          <a:prstGeom prst="don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8893F37-3BBF-7B07-47B0-59026F495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2208" y="2687312"/>
            <a:ext cx="556929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Achieved: Automation, real-time updates, scalability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Designed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robustness &amp; production readiness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Open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client feedback &amp; improvements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191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D1F6C"/>
      </a:accent1>
      <a:accent2>
        <a:srgbClr val="EDBE23"/>
      </a:accent2>
      <a:accent3>
        <a:srgbClr val="24A2D5"/>
      </a:accent3>
      <a:accent4>
        <a:srgbClr val="93BA21"/>
      </a:accent4>
      <a:accent5>
        <a:srgbClr val="5F349C"/>
      </a:accent5>
      <a:accent6>
        <a:srgbClr val="DB2E2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527</Words>
  <Application>Microsoft Office PowerPoint</Application>
  <PresentationFormat>Widescreen</PresentationFormat>
  <Paragraphs>80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Lora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Kavitha</dc:creator>
  <cp:lastModifiedBy>Gowri Ganesh Voonna</cp:lastModifiedBy>
  <cp:revision>81</cp:revision>
  <dcterms:created xsi:type="dcterms:W3CDTF">2020-02-17T06:54:48Z</dcterms:created>
  <dcterms:modified xsi:type="dcterms:W3CDTF">2025-08-29T06:14:16Z</dcterms:modified>
</cp:coreProperties>
</file>